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</a:defRPr>
            </a:pPr>
            <a:r>
              <a:t>INVESTMENT COMMITTEE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NovaCrest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F5E9"/>
                </a:solidFill>
              </a:defRPr>
            </a:pPr>
            <a:r>
              <a:t>$85M Growth Equity Investment  |  30% Minority Stake  |  $283M Pre-Money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</a:defRPr>
            </a:pPr>
            <a:r>
              <a:t>Prepared by Meridian Growth Partners  |  March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Recommendation: Proceed with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4CAF50"/>
                </a:solidFill>
              </a:defRPr>
            </a:pPr>
            <a:r>
              <a:t>$31M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</a:defRPr>
            </a:pPr>
            <a:r>
              <a:t>ARR (2025)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645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4CAF50"/>
                </a:solidFill>
              </a:defRPr>
            </a:pPr>
            <a:r>
              <a:t>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2194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</a:defRPr>
            </a:pPr>
            <a:r>
              <a:t>YoY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4CAF50"/>
                </a:solidFill>
              </a:defRPr>
            </a:pPr>
            <a:r>
              <a:t>78%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194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</a:defRPr>
            </a:pPr>
            <a:r>
              <a:t>Gross Margin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645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4CAF50"/>
                </a:solidFill>
              </a:defRPr>
            </a:pPr>
            <a:r>
              <a:t>135%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194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</a:defRPr>
            </a:pPr>
            <a:r>
              <a:t>Net Retention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1645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4CAF50"/>
                </a:solidFill>
              </a:defRPr>
            </a:pPr>
            <a:r>
              <a:t>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194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</a:defRPr>
            </a:pPr>
            <a:r>
              <a:t>Rule of 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1645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4CAF50"/>
                </a:solidFill>
              </a:defRPr>
            </a:pPr>
            <a:r>
              <a:t>14 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2194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</a:defRPr>
            </a:pPr>
            <a:r>
              <a:t>CAC Payback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9260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E8F5E9"/>
                </a:solidFill>
              </a:defRPr>
            </a:pPr>
            <a:r>
              <a:t>B2B SaaS financial data infrastructure — serves banks, asset managers, insurance companies</a:t>
            </a:r>
          </a:p>
          <a:p>
            <a:pPr>
              <a:spcAft>
                <a:spcPts val="400"/>
              </a:spcAft>
              <a:defRPr sz="800" b="0">
                <a:solidFill>
                  <a:srgbClr val="FFFFFF"/>
                </a:solidFill>
              </a:defRPr>
            </a:pPr>
          </a:p>
          <a:p>
            <a:pPr>
              <a:spcAft>
                <a:spcPts val="400"/>
              </a:spcAft>
              <a:defRPr sz="1400" b="0">
                <a:solidFill>
                  <a:srgbClr val="FFFFFF"/>
                </a:solidFill>
              </a:defRPr>
            </a:pPr>
            <a:r>
              <a:t>Founded by ex-Goldman Sachs (CEO) and ex-Palantir (CTO) executives</a:t>
            </a:r>
          </a:p>
          <a:p>
            <a:pPr>
              <a:spcAft>
                <a:spcPts val="400"/>
              </a:spcAft>
              <a:defRPr sz="1400" b="0">
                <a:solidFill>
                  <a:srgbClr val="FFFFFF"/>
                </a:solidFill>
              </a:defRPr>
            </a:pPr>
            <a:r>
              <a:t>Scaled from $8M → $18M → $31M ARR in 3 years with elite unit economics</a:t>
            </a:r>
          </a:p>
          <a:p>
            <a:pPr>
              <a:spcAft>
                <a:spcPts val="400"/>
              </a:spcAft>
              <a:defRPr sz="1400" b="0">
                <a:solidFill>
                  <a:srgbClr val="FFFFFF"/>
                </a:solidFill>
              </a:defRPr>
            </a:pPr>
            <a:r>
              <a:t>$85M proceeds: European expansion ($34M) + Product dev ($30M) + Headcount ($21M)</a:t>
            </a:r>
          </a:p>
          <a:p>
            <a:pPr>
              <a:spcAft>
                <a:spcPts val="400"/>
              </a:spcAft>
              <a:defRPr sz="1400" b="0">
                <a:solidFill>
                  <a:srgbClr val="FFFFFF"/>
                </a:solidFill>
              </a:defRPr>
            </a:pPr>
            <a:r>
              <a:t>3 LOIs from tier-one European asset managers validate expansion thesis</a:t>
            </a:r>
          </a:p>
          <a:p>
            <a:pPr>
              <a:spcAft>
                <a:spcPts val="400"/>
              </a:spcAft>
              <a:defRPr sz="800" b="0">
                <a:solidFill>
                  <a:srgbClr val="FFFFFF"/>
                </a:solidFill>
              </a:defRPr>
            </a:pPr>
          </a:p>
          <a:p>
            <a:pPr>
              <a:spcAft>
                <a:spcPts val="400"/>
              </a:spcAft>
              <a:defRPr sz="1400" b="0">
                <a:solidFill>
                  <a:srgbClr val="FF9800"/>
                </a:solidFill>
              </a:defRPr>
            </a:pPr>
            <a:r>
              <a:t>Key Risks: Customer concentration (top 3 = 40% ARR), 4-month onboarding cycles, SOC 2 Type II gap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</a:defRPr>
            </a:pPr>
            <a:r>
              <a:t>INVESTMENT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A1F0D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188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$34B TAM with Regulatory Tailwinds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5E9"/>
                </a:solidFill>
              </a:defRPr>
            </a:pPr>
            <a:r>
              <a:t>Banks face dual mandate: modernize for AI + comply with DORA/MiFID II/T+1.</a:t>
            </a:r>
            <a:br/>
            <a:r>
              <a:t>NovaCrest fills gap between rigid legacy (Moody's) and empty platforms (Snowflake).</a:t>
            </a:r>
            <a:br/>
            <a:r>
              <a:t>Validated by Dr. Sarah Chen, former CDO at EuroBank Corp.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A1F0D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017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European Expansion = $40M Catalyst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5E9"/>
                </a:solidFill>
              </a:defRPr>
            </a:pPr>
            <a:r>
              <a:t>DORA forces EU banks to adopt compliant data infrastructure.</a:t>
            </a:r>
            <a:br/>
            <a:r>
              <a:t>3 LOIs from tier-one European asset managers.</a:t>
            </a:r>
            <a:br/>
            <a:r>
              <a:t>London HQ + localized EU data centers planned.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A1F0D"/>
                </a:solidFill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846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Elite Land-and-Expand Economics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30352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5E9"/>
                </a:solidFill>
              </a:defRPr>
            </a:pPr>
            <a:r>
              <a:t>Land at $180K ACV (DataBridge) → expand to $500K+ (RiskLens + ComplianceSync).</a:t>
            </a:r>
            <a:br/>
            <a:r>
              <a:t>Drives 135% NRR within 12-18 months.</a:t>
            </a:r>
            <a:br/>
            <a:r>
              <a:t>Avalon AM: 70% reduction in reconciliation time, $2M/yr savings.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</a:defRPr>
            </a:pPr>
            <a: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ARR Growth Trajectory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</a:defRPr>
            </a:pPr>
            <a:r>
              <a:t>2023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0" y="1874520"/>
            <a:ext cx="1097280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18288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$8.0M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</a:defRPr>
            </a:pPr>
            <a:r>
              <a:t>2024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697480"/>
            <a:ext cx="2468880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2651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$18.0M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747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</a:defRPr>
            </a:pPr>
            <a:r>
              <a:t>2025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20" y="3520440"/>
            <a:ext cx="4206240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599" y="3474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$31.0M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125% → 72% YoY Growth  |  78% Gross Margins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Unit Economics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28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F5E9"/>
                </a:solidFill>
              </a:defRPr>
            </a:pPr>
            <a:r>
              <a:t>Net Retention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828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4CAF50"/>
                </a:solidFill>
              </a:defRPr>
            </a:pPr>
            <a:r>
              <a:t>135%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4688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F5E9"/>
                </a:solidFill>
              </a:defRPr>
            </a:pPr>
            <a:r>
              <a:t>CAC Payback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2468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4CAF50"/>
                </a:solidFill>
              </a:defRPr>
            </a:pPr>
            <a:r>
              <a:t>14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08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F5E9"/>
                </a:solidFill>
              </a:defRPr>
            </a:pPr>
            <a:r>
              <a:t>Rule of 40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1089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4CAF50"/>
                </a:solidFill>
              </a:defRPr>
            </a:pPr>
            <a:r>
              <a:t>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7490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F5E9"/>
                </a:solidFill>
              </a:defRPr>
            </a:pPr>
            <a:r>
              <a:t>Avg Landing ACV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74903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4CAF50"/>
                </a:solidFill>
              </a:defRPr>
            </a:pPr>
            <a:r>
              <a:t>$180K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389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F5E9"/>
                </a:solidFill>
              </a:defRPr>
            </a:pPr>
            <a:r>
              <a:t>Expanded ACV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4389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4CAF50"/>
                </a:solidFill>
              </a:defRPr>
            </a:pPr>
            <a:r>
              <a:t>$500K+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029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F5E9"/>
                </a:solidFill>
              </a:defRPr>
            </a:pPr>
            <a:r>
              <a:t>Valuation (ARR multiple)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5029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4CAF50"/>
                </a:solidFill>
              </a:defRPr>
            </a:pPr>
            <a:r>
              <a:t>~9.1x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</a:defRPr>
            </a:pPr>
            <a:r>
              <a:t>DEAL STRUCTURE &amp; USE OF PROCEEDS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FFFFFF"/>
                </a:solidFill>
              </a:defRPr>
            </a:pPr>
            <a:r>
              <a:t>Transaction Overview</a:t>
            </a:r>
          </a:p>
          <a:p>
            <a:pPr>
              <a:spcAft>
                <a:spcPts val="4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400"/>
              </a:spcAft>
              <a:defRPr sz="1500" b="0">
                <a:solidFill>
                  <a:srgbClr val="E8F5E9"/>
                </a:solidFill>
              </a:defRPr>
            </a:pPr>
            <a:r>
              <a:t>Investment: $85M for 30% minority stake</a:t>
            </a:r>
          </a:p>
          <a:p>
            <a:pPr>
              <a:spcAft>
                <a:spcPts val="400"/>
              </a:spcAft>
              <a:defRPr sz="1500" b="0">
                <a:solidFill>
                  <a:srgbClr val="E8F5E9"/>
                </a:solidFill>
              </a:defRPr>
            </a:pPr>
            <a:r>
              <a:t>Pre-money valuation: $283M</a:t>
            </a:r>
          </a:p>
          <a:p>
            <a:pPr>
              <a:spcAft>
                <a:spcPts val="400"/>
              </a:spcAft>
              <a:defRPr sz="1500" b="0">
                <a:solidFill>
                  <a:srgbClr val="E8F5E9"/>
                </a:solidFill>
              </a:defRPr>
            </a:pPr>
            <a:r>
              <a:t>Post-money valuation: $368M</a:t>
            </a:r>
          </a:p>
          <a:p>
            <a:pPr>
              <a:spcAft>
                <a:spcPts val="400"/>
              </a:spcAft>
              <a:defRPr sz="1500" b="0">
                <a:solidFill>
                  <a:srgbClr val="E8F5E9"/>
                </a:solidFill>
              </a:defRPr>
            </a:pPr>
            <a:r>
              <a:t>Type: Growth equity (profitable company)</a:t>
            </a:r>
          </a:p>
          <a:p>
            <a:pPr>
              <a:spcAft>
                <a:spcPts val="400"/>
              </a:spcAft>
              <a:defRPr sz="1500" b="0">
                <a:solidFill>
                  <a:srgbClr val="E8F5E9"/>
                </a:solidFill>
              </a:defRPr>
            </a:pPr>
            <a:r>
              <a:t>Structure: Preferred equity + minority protections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Use of Proceeds ($85M)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</a:defRPr>
            </a:pPr>
            <a:r>
              <a:t>40%  |  $34M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94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European Expansion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560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</a:defRPr>
            </a:pPr>
            <a:r>
              <a:t>London HQ, EU data centers, local GTM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</a:defRPr>
            </a:pPr>
            <a:r>
              <a:t>35%  |  $30M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Product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</a:defRPr>
            </a:pPr>
            <a:r>
              <a:t>AI predictive analytics, 100 new integrations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389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</a:defRPr>
            </a:pPr>
            <a:r>
              <a:t>25%  |  $21M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754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Headcount Growth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120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</a:defRPr>
            </a:pPr>
            <a:r>
              <a:t>120 → 200 employees, CS &amp; integration eng.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</a:defRPr>
            </a:pPr>
            <a:r>
              <a:t>KEY RISKS &amp; MITIGATIONS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44336"/>
                </a:solidFill>
              </a:defRPr>
            </a:pPr>
            <a:r>
              <a:t>HIGH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097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Customer Concentration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463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</a:defRPr>
            </a:pPr>
            <a:r>
              <a:t>Top 3 = 40% of ARR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CAF50"/>
                </a:solidFill>
              </a:defRPr>
            </a:pPr>
            <a:r>
              <a:t>Mitigation: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F5E9"/>
                </a:solidFill>
              </a:defRPr>
            </a:pPr>
            <a:r>
              <a:t>Revenue diversification milestone in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39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44336"/>
                </a:solidFill>
              </a:defRPr>
            </a:pPr>
            <a:r>
              <a:t>HIGH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1488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Onboarding &amp; Support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51459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</a:defRPr>
            </a:pPr>
            <a:r>
              <a:t>4-month onboarding, support degradation post-Series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4883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CAF50"/>
                </a:solidFill>
              </a:defRPr>
            </a:pPr>
            <a:r>
              <a:t>Mitigation: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46887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F5E9"/>
                </a:solidFill>
              </a:defRPr>
            </a:pPr>
            <a:r>
              <a:t>Tranche tied to CS/support hiring milestones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004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9800"/>
                </a:solidFill>
              </a:defRPr>
            </a:pPr>
            <a:r>
              <a:t>MED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Pricing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566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</a:defRPr>
            </a:pPr>
            <a:r>
              <a:t>40% price jump caused churn at Cornerstone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CAF50"/>
                </a:solidFill>
              </a:defRPr>
            </a:pPr>
            <a:r>
              <a:t>Mitigation: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520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F5E9"/>
                </a:solidFill>
              </a:defRPr>
            </a:pPr>
            <a:r>
              <a:t>Review pricing clauses in top 5 contracts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51959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9800"/>
                </a:solidFill>
              </a:defRPr>
            </a:pPr>
            <a:r>
              <a:t>MED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25195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SOC 2 Type II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61771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</a:defRPr>
            </a:pPr>
            <a:r>
              <a:t>Only Type I; Avalon threatening to halt expansion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25195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CAF50"/>
                </a:solidFill>
              </a:defRPr>
            </a:pPr>
            <a:r>
              <a:t>Mitigation: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7199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F5E9"/>
                </a:solidFill>
              </a:defRPr>
            </a:pPr>
            <a:r>
              <a:t>Make Type II completion a closing condition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03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CAF50"/>
                </a:solidFill>
              </a:defRPr>
            </a:pPr>
            <a:r>
              <a:t>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Key Person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669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</a:defRPr>
            </a:pPr>
            <a:r>
              <a:t>Domain expertise in CEO + CTO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303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CAF50"/>
                </a:solidFill>
              </a:defRPr>
            </a:pPr>
            <a:r>
              <a:t>Mitigation: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623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F5E9"/>
                </a:solidFill>
              </a:defRPr>
            </a:pPr>
            <a:r>
              <a:t>Key-person insurance &amp; retention packages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Recommendation: Invest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4CAF50"/>
                </a:solidFill>
              </a:defRPr>
            </a:pPr>
            <a:r>
              <a:t>$85M  |  30% Stake  |  $283M Pre-Money  |  ~9.1x ARR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8F5E9"/>
                </a:solidFill>
              </a:defRPr>
            </a:pPr>
            <a:r>
              <a:t>NovaCrest Analytics — The Financial Data Infrastructure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</a:defRPr>
            </a:pPr>
            <a:r>
              <a:t>Generated by Tracelight  |  AI-Powered Due Diligence Sidecar  |  All citations traceable to source documents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